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2" r:id="rId5"/>
    <p:sldId id="263" r:id="rId6"/>
    <p:sldId id="272" r:id="rId7"/>
    <p:sldId id="273" r:id="rId8"/>
    <p:sldId id="264" r:id="rId9"/>
    <p:sldId id="267" r:id="rId10"/>
    <p:sldId id="268" r:id="rId11"/>
    <p:sldId id="269" r:id="rId12"/>
    <p:sldId id="270" r:id="rId13"/>
    <p:sldId id="271" r:id="rId14"/>
    <p:sldId id="265" r:id="rId15"/>
    <p:sldId id="26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E3BAB-4A3A-46AB-8D52-1A414DBAC49D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B17F6-8456-4F9C-92C8-94E4DA8C97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49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5FDE5-3D57-A35F-28D8-BC108D581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C7BE09-2A9C-2508-D75B-9DFF5E47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07F355-3730-9C72-CE1E-B25429506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DD698D-8749-E6C7-111F-960EB576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907357-54CD-3A1D-7297-F75E8B5C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6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56D0B-88A2-F32C-597D-E4717F5D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3A213E-DDDA-334D-7DD4-DB59FCEB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BD03CF-D778-59C9-C9B2-50AEA325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AEB3C2-34E1-BBDA-AB8A-4FF49B4E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B3F253-ECE6-7128-85B4-B87C22A5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165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87CAE-3F14-A614-BACE-D1265F24D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942B40-AF04-37BB-1326-D76CAEBE2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FB7A3B-7209-FF02-F381-3898A15D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20105-06DC-4EA9-BC04-8709319B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C77957-89FF-1B3C-8E7B-91E7F8AF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53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6E6A4-0A72-55E2-61C5-FA171400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8C9FA0-E507-BF07-9E2E-E4F37642E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F5DB07-FA85-0106-6B12-82D1AAC7D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A898B3-6D9D-727B-353E-B95CD50F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0D2759-4CF7-AD6E-E5C8-A56B4C77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0C0388-5474-E9F1-45C7-CEE7FEBF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5228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CFD80-4C53-0DA5-CB56-E2212DEF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0491A1-02AE-13C4-77D9-4E3F3CD32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2BB94C-18DA-3AAC-64EF-F9FD874F4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FB19EC-A8E5-D607-72F9-5CC0FDE74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346B88-36D9-6B80-D17A-42FBA9A8E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19A8E7E-53E9-4B55-E789-5D05B843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90C1BE-8F9E-B2FA-D121-12B34D90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532916-ABA6-EDDF-9EBE-1A6A6D8D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17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08ECBC-53B2-66FA-17DF-5844D06F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D94A22-E795-507A-C58D-7AF0B9006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2AD5DD-8234-1D0F-CB82-5BF7DE40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2EB1301-20F9-BF1E-7A38-7C027C9C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79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489B4AB-32D5-7108-A20B-3261907C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FDAD79-9504-E2A3-9371-F5F145F36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E5D3D1-A143-319E-43EF-7A530509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91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B734EA-B22A-A342-4E2E-E79BF54C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08298-A664-15B6-66A9-C45D1EC41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1C9721-BA35-6993-C65E-F9F262667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96C0F3-3D30-120A-DC91-FEA665CB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189011-85B4-D021-84F0-961740C1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A89243-9D1F-17AA-E56E-8A81F05FF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7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DDDA9-FDA6-DE29-B2C2-2FA1C3FE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5CF711-7A45-4027-A3D3-5BB82E8D6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82BA1B-8C81-275A-4662-C2140F4E3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1C685D-C755-86FF-AEC1-442C6FCDF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54F263-0356-5008-5F06-A1DBC6446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496061-E796-57EB-DCFA-C74F506A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45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F336E-7413-B20D-40C4-5242CD0F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46CB80-6010-D4ED-3BF7-7E322A023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9CC469-9B8C-060F-A163-D3653FB20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563962-BDD3-065B-775A-FA6C4C29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0034F8-848E-D667-E0B9-CB3DDC4D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0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D48E2D-89CA-77A7-C7AE-C24354590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27B9C0-D6BC-9EEA-4477-B80232B7C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715490-05DE-0841-8FDD-A5D9848C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084D02-A5E2-6724-58F6-9D6466DC0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9ED6C8-5F43-7798-8634-94F75D8BE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673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2A0A3-1A2E-D661-6693-04E04E1B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3AFAC2-40DE-BD0B-814F-C3143D154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127A73-EE68-05C4-E542-1D699D96B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2D7FD-738E-4436-8369-5C3ADF53CB84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2B9E01-0F69-B3D5-57B8-AA50B1DC5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CA38D7-9865-851C-49D1-9C78E5984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8D0DF-6B53-48D1-9F8C-445B1A4189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76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AE849C5-D8F4-0E14-0599-9F286A82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536"/>
            <a:ext cx="12191999" cy="6885536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63552" y="692696"/>
            <a:ext cx="7854696" cy="1752600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ru-RU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агентство морского и речного транспорта</a:t>
            </a:r>
            <a:endParaRPr lang="ru-RU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«ГОСУДАРСТВЕННЫЙ МОРСКОЙ УНИВЕРСИТЕТ </a:t>
            </a:r>
            <a:endParaRPr lang="ru-RU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ИМЕНИ АДМИРАЛА Ф.Ф. УШАКОВА» </a:t>
            </a:r>
          </a:p>
          <a:p>
            <a:pPr algn="ctr"/>
            <a:r>
              <a:rPr lang="ru-RU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Транспортный колледж</a:t>
            </a:r>
          </a:p>
          <a:p>
            <a:endParaRPr lang="ru-RU" dirty="0"/>
          </a:p>
        </p:txBody>
      </p:sp>
      <p:pic>
        <p:nvPicPr>
          <p:cNvPr id="4" name="Picture 6" descr="C:\Users\Timon\Desktop\Logo_GMU.png">
            <a:extLst>
              <a:ext uri="{FF2B5EF4-FFF2-40B4-BE49-F238E27FC236}">
                <a16:creationId xmlns:a16="http://schemas.microsoft.com/office/drawing/2014/main" id="{29AF028E-7AEF-E811-2217-957E4CA6D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351" y="2564905"/>
            <a:ext cx="1081088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одзаголовок 2"/>
          <p:cNvSpPr txBox="1">
            <a:spLocks/>
          </p:cNvSpPr>
          <p:nvPr/>
        </p:nvSpPr>
        <p:spPr>
          <a:xfrm>
            <a:off x="2711624" y="3861048"/>
            <a:ext cx="6984776" cy="1296144"/>
          </a:xfrm>
          <a:prstGeom prst="rect">
            <a:avLst/>
          </a:prstGeom>
        </p:spPr>
        <p:txBody>
          <a:bodyPr vert="horz" lIns="0" rIns="18288">
            <a:normAutofit lnSpcReduction="10000"/>
          </a:bodyPr>
          <a:lstStyle>
            <a:lvl1pPr marL="0" marR="45720" indent="0" algn="r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tx2"/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КП</a:t>
            </a:r>
            <a:r>
              <a:rPr lang="en-US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Проектирование дизайна рекламных баннеров для социальных сетей для предприятия</a:t>
            </a:r>
            <a:r>
              <a:rPr lang="ru-RU" kern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63352" y="5301209"/>
            <a:ext cx="4958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курсант группы 3832.9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Е.Е.Соловьёв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kern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И.Ю.</a:t>
            </a:r>
            <a:r>
              <a:rPr lang="ru-RU" sz="1800" kern="0" spc="-3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kern="0" spc="-1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Васаган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4000" y="638132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Новороссийск 2025</a:t>
            </a:r>
          </a:p>
        </p:txBody>
      </p:sp>
    </p:spTree>
    <p:extLst>
      <p:ext uri="{BB962C8B-B14F-4D97-AF65-F5344CB8AC3E}">
        <p14:creationId xmlns:p14="http://schemas.microsoft.com/office/powerpoint/2010/main" val="163243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67CE8D-A8C3-29D1-624A-E4F667AE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" y="-1"/>
            <a:ext cx="12183176" cy="686297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8E61D-F331-AF81-CE58-F1140867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F49FF-E1C8-7DCF-A4FE-6F4D81874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исследования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данного курсового проекта является </a:t>
            </a:r>
            <a:r>
              <a:rPr lang="ru-RU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 создания рекламной графики для SMM.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исследования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</a:t>
            </a:r>
            <a:r>
              <a:rPr lang="ru-RU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дизайн-макеты рекламных баннеров.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647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280E0D-F2B2-71FB-9FB7-8E2F3C137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4C2D9-71F0-2A76-CCD6-D3D0552B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73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7D391C-4946-C06F-D272-8EFD89AD5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2698"/>
            <a:ext cx="10515600" cy="534429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sz="3000" b="1" kern="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</a:t>
            </a:r>
            <a:r>
              <a:rPr lang="ru-RU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0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работы: </a:t>
            </a:r>
            <a:r>
              <a:rPr lang="ru-RU" sz="3000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серию эффективных рекламных баннеров для социальных сетей, которые будут привлекать внимание целевой аудитории.</a:t>
            </a:r>
          </a:p>
          <a:p>
            <a:pPr marL="0" indent="0" algn="just">
              <a:buNone/>
            </a:pPr>
            <a:endParaRPr lang="ru-RU" sz="3000" kern="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Изучить основные правила и современные тенденции создания баннеров для социальных сетей.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Проанализировать, как выглядят рекламные баннеры у конкурентов.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Определить, какой стиль, цвета и шрифты лучше всего подходят для привлечения внимания.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Разработать несколько вариантов баннеров для разных площадок.</a:t>
            </a:r>
          </a:p>
          <a:p>
            <a:pPr marL="0" lvl="0" indent="0" algn="just">
              <a:lnSpc>
                <a:spcPct val="150000"/>
              </a:lnSpc>
              <a:buNone/>
              <a:tabLst>
                <a:tab pos="457200" algn="l"/>
              </a:tabLst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lang="ru-R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Сформулировать рекомендации по созданию таких баннеров для других предприятий.</a:t>
            </a:r>
          </a:p>
          <a:p>
            <a:pPr marL="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428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D45FC7-7CB9-3393-3602-14F57F41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B6DE2-8F6A-C6BF-0F4E-F5E78BDFA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Сравнительный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BD165-414F-1C0A-A804-295CE7AD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рекламных баннеров конкурентов в кофейной нише.</a:t>
            </a:r>
          </a:p>
          <a:p>
            <a:pPr marL="0" indent="0" algn="l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Выявлены сильные и слабые стороны визуальных решений.</a:t>
            </a:r>
          </a:p>
          <a:p>
            <a:pPr marL="0" indent="0" algn="l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Определены направления для отстройки и улучшения дизайна.</a:t>
            </a:r>
          </a:p>
        </p:txBody>
      </p:sp>
    </p:spTree>
    <p:extLst>
      <p:ext uri="{BB962C8B-B14F-4D97-AF65-F5344CB8AC3E}">
        <p14:creationId xmlns:p14="http://schemas.microsoft.com/office/powerpoint/2010/main" val="128944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923528-E219-BDFC-B6E7-BEB0E4B47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8DBAA-11E7-5A37-DC44-D9B3ED08C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характеристика исследуемого предприятия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5D96D3-0B8E-E9EA-6537-78003F311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ВКонтакте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ru-RU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это универсальный рекламный канал с массовой и разнообразной аудиторией, эффективный для бизнеса любого масштаба. Гибкие форматы, точный таргетинг и высокая вовлеченность пользователей создают идеальные условия для размещения рекламных баннеров с целью привлечения клиентов и роста продаж.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276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474729-30BA-EE08-ACD6-3889BE316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BF37C-6B43-D581-F816-CBE32F12B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дизайна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07613A-E7F5-3B2F-5985-99EE4F2B9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3" y="1356884"/>
            <a:ext cx="5139771" cy="522067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CEAAA2-7C7E-929D-E57C-89C431A17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544" y="1356884"/>
            <a:ext cx="3150637" cy="50899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1B4B57B-E259-E3B5-A435-C33014625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181" y="1347517"/>
            <a:ext cx="2011840" cy="509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8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525461-77EB-58C1-C353-018F23A5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A14848C-AE5E-4BEA-008B-ECA55DA5C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дизайна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E8355D7-F199-0836-77E2-C4C8231CC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410" y="1781725"/>
            <a:ext cx="6108644" cy="32945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5C5481B-91E9-75E4-CAB2-F58B1A8D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05" y="1585181"/>
            <a:ext cx="4960200" cy="415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9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7CA55C-7EB8-B9AD-9D2F-15A81F304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B217B-4235-86E5-6A3B-83C2303F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дизайна</a:t>
            </a:r>
          </a:p>
        </p:txBody>
      </p:sp>
      <p:pic>
        <p:nvPicPr>
          <p:cNvPr id="6" name="Объект 5" descr="Изображение выглядит как текст, человек, Человеческое лицо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E24C41C-8E82-5145-02E1-8D05B7B12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601" y="2055813"/>
            <a:ext cx="2143917" cy="3843919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646E97-F805-F91B-7C9F-4DE3C5EDE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158" y="2055813"/>
            <a:ext cx="2159099" cy="38439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330A082-81A9-C81C-2D94-85C697A2C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515" y="2055813"/>
            <a:ext cx="2159099" cy="3855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FD2CC5-E088-ABB7-6954-57D9986E1150}"/>
              </a:ext>
            </a:extLst>
          </p:cNvPr>
          <p:cNvSpPr txBox="1"/>
          <p:nvPr/>
        </p:nvSpPr>
        <p:spPr>
          <a:xfrm>
            <a:off x="1471744" y="5917200"/>
            <a:ext cx="17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Сделал фон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1FEEF7-3334-096F-EAE0-B6FC7E0AC069}"/>
              </a:ext>
            </a:extLst>
          </p:cNvPr>
          <p:cNvSpPr txBox="1"/>
          <p:nvPr/>
        </p:nvSpPr>
        <p:spPr>
          <a:xfrm>
            <a:off x="4610251" y="5910688"/>
            <a:ext cx="206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 текст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623E-06CD-81A1-43A5-FD64BE505E4A}"/>
              </a:ext>
            </a:extLst>
          </p:cNvPr>
          <p:cNvSpPr txBox="1"/>
          <p:nvPr/>
        </p:nvSpPr>
        <p:spPr>
          <a:xfrm>
            <a:off x="7701238" y="5917200"/>
            <a:ext cx="304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3686693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687047-4203-75FC-10C0-CB375BE9A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Мобильный телефон, Мобильное устрой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2DDC378-99AA-0896-4A71-1767A31BB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527" y="1485900"/>
            <a:ext cx="2457081" cy="3886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4BE7F0-DE73-E895-912E-130B7A725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502" y="1485900"/>
            <a:ext cx="2464995" cy="38862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3F6227-9131-C7E7-5FAE-7472B2B04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639" y="1485900"/>
            <a:ext cx="2462835" cy="3886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4CDBFA-42F1-5FA7-581D-20D5F7EFCCA2}"/>
              </a:ext>
            </a:extLst>
          </p:cNvPr>
          <p:cNvSpPr txBox="1"/>
          <p:nvPr/>
        </p:nvSpPr>
        <p:spPr>
          <a:xfrm>
            <a:off x="1377736" y="5372100"/>
            <a:ext cx="17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Сделал фон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471D2E-52D7-113B-A442-0828B52D5BBD}"/>
              </a:ext>
            </a:extLst>
          </p:cNvPr>
          <p:cNvSpPr txBox="1"/>
          <p:nvPr/>
        </p:nvSpPr>
        <p:spPr>
          <a:xfrm>
            <a:off x="5062543" y="5372099"/>
            <a:ext cx="206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 текст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F77B96-BF18-CA94-FB12-70C68AFBB46D}"/>
              </a:ext>
            </a:extLst>
          </p:cNvPr>
          <p:cNvSpPr txBox="1"/>
          <p:nvPr/>
        </p:nvSpPr>
        <p:spPr>
          <a:xfrm>
            <a:off x="8428746" y="5372099"/>
            <a:ext cx="304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3820402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069D8E-6537-350B-9D9A-6F38440A4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боб, Ямайский кофе Блу-Маунтинс, Кофе Ко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9FC119-7FC3-02B3-45F7-D9E5F8C4A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345" y="1706009"/>
            <a:ext cx="5126742" cy="34459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9D60F5-3D6F-53DF-AD02-AA50250C0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95" y="1708145"/>
            <a:ext cx="5153355" cy="34459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8E971E-33B7-F4C0-A1CA-30BECAB8292B}"/>
              </a:ext>
            </a:extLst>
          </p:cNvPr>
          <p:cNvSpPr txBox="1"/>
          <p:nvPr/>
        </p:nvSpPr>
        <p:spPr>
          <a:xfrm>
            <a:off x="2138930" y="5149855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 фон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61B1E7-73E8-2656-FF8B-58FBD45AAAA3}"/>
              </a:ext>
            </a:extLst>
          </p:cNvPr>
          <p:cNvSpPr txBox="1"/>
          <p:nvPr/>
        </p:nvSpPr>
        <p:spPr>
          <a:xfrm>
            <a:off x="7222395" y="5149855"/>
            <a:ext cx="304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2824533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A621EE-6B55-0CEB-8146-162CA4063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Фитнес, колено, сустав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581CCA0-9BA7-94F5-C533-FED50CAD5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363" y="1267641"/>
            <a:ext cx="2999437" cy="43227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855371-DF32-3289-76FD-1EB3CCDA5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887" y="1267641"/>
            <a:ext cx="3034925" cy="43227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84EDB9-98AD-D26E-7A5A-9A9DE6B7D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09" y="1267641"/>
            <a:ext cx="3043127" cy="43227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0A6CD5-9750-81E1-D2D5-ED2ECC5E992D}"/>
              </a:ext>
            </a:extLst>
          </p:cNvPr>
          <p:cNvSpPr txBox="1"/>
          <p:nvPr/>
        </p:nvSpPr>
        <p:spPr>
          <a:xfrm>
            <a:off x="1356452" y="5590359"/>
            <a:ext cx="17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Сделал фон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21863-732C-8024-AB68-9295E3B01361}"/>
              </a:ext>
            </a:extLst>
          </p:cNvPr>
          <p:cNvSpPr txBox="1"/>
          <p:nvPr/>
        </p:nvSpPr>
        <p:spPr>
          <a:xfrm>
            <a:off x="5013893" y="5590359"/>
            <a:ext cx="206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 текст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219D5-6E99-93CF-AA63-683D30DAB0C9}"/>
              </a:ext>
            </a:extLst>
          </p:cNvPr>
          <p:cNvSpPr txBox="1"/>
          <p:nvPr/>
        </p:nvSpPr>
        <p:spPr>
          <a:xfrm>
            <a:off x="8333760" y="5590358"/>
            <a:ext cx="304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276961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883772-EF8B-373F-205D-42F8AB6EA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башмак, обувь, сникер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B674F3A-DB54-2011-D9F0-A85C0383D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874" y="1697242"/>
            <a:ext cx="3180742" cy="31931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E3CF4D-38FD-BFF2-C0B5-A3EF0B5BD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134" y="1697242"/>
            <a:ext cx="3180742" cy="31878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D9A606-1360-5D4E-F3EB-9D22D2FA0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93" y="1697242"/>
            <a:ext cx="3180743" cy="3187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91BF5D-55C5-3C88-6BFB-644014416CF5}"/>
              </a:ext>
            </a:extLst>
          </p:cNvPr>
          <p:cNvSpPr txBox="1"/>
          <p:nvPr/>
        </p:nvSpPr>
        <p:spPr>
          <a:xfrm>
            <a:off x="1152444" y="4885101"/>
            <a:ext cx="17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Сделал фон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DC069-9EA3-5095-F888-2749F979B60F}"/>
              </a:ext>
            </a:extLst>
          </p:cNvPr>
          <p:cNvSpPr txBox="1"/>
          <p:nvPr/>
        </p:nvSpPr>
        <p:spPr>
          <a:xfrm>
            <a:off x="5062543" y="4885101"/>
            <a:ext cx="206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 текст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B6CB4-30CD-B351-0B2F-1E2B6A710063}"/>
              </a:ext>
            </a:extLst>
          </p:cNvPr>
          <p:cNvSpPr txBox="1"/>
          <p:nvPr/>
        </p:nvSpPr>
        <p:spPr>
          <a:xfrm>
            <a:off x="8315924" y="4885101"/>
            <a:ext cx="304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54940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67D387-42ED-8D54-9041-F7A5A966E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B0F1257-6E7C-29DF-C22E-77CB95504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8" y="949871"/>
            <a:ext cx="2943965" cy="49582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0E6D35-A111-477C-DF01-806444682FFB}"/>
              </a:ext>
            </a:extLst>
          </p:cNvPr>
          <p:cNvSpPr txBox="1"/>
          <p:nvPr/>
        </p:nvSpPr>
        <p:spPr>
          <a:xfrm>
            <a:off x="1275940" y="5908124"/>
            <a:ext cx="1724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Сделал фон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B4795-376D-ED04-D845-98A14B3B95A8}"/>
              </a:ext>
            </a:extLst>
          </p:cNvPr>
          <p:cNvSpPr txBox="1"/>
          <p:nvPr/>
        </p:nvSpPr>
        <p:spPr>
          <a:xfrm>
            <a:off x="4905470" y="5902558"/>
            <a:ext cx="206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Добавил текст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F4C882-BF4B-E471-2972-77C70C9B3EF8}"/>
              </a:ext>
            </a:extLst>
          </p:cNvPr>
          <p:cNvSpPr txBox="1"/>
          <p:nvPr/>
        </p:nvSpPr>
        <p:spPr>
          <a:xfrm>
            <a:off x="8227078" y="5902557"/>
            <a:ext cx="304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Финальный результат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D22767-23DF-8023-FF42-3194E0287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09" y="949868"/>
            <a:ext cx="2962195" cy="49582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1EE1AF-F029-7B7A-9DFF-3862923EE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828" y="938136"/>
            <a:ext cx="2962196" cy="496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3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995342-67D2-DED6-BD0F-6393D7A4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D9B13-43D4-5AAB-8421-6A07C6181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C24EE-2C4E-CFC5-5E3B-0331E902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проекта была достигнута цель – разработана серия эффективных рекламных баннеров для социальных сетей.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Подтверждена гипотеза о ключевой роли стратегически продуманного дизайна в успехе рекламной кампании.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Сформулированы универсальные рекомендации для предприятий.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223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1B1FE3-A1FE-AC9E-8BF1-368B80BA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6E9E81D-E75E-5B44-30E4-6AB11F01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75857"/>
            <a:ext cx="10515600" cy="13507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7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962950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331</Words>
  <Application>Microsoft Office PowerPoint</Application>
  <PresentationFormat>Широкоэкранный</PresentationFormat>
  <Paragraphs>51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Объект и предмет исследования</vt:lpstr>
      <vt:lpstr>Цели и задачи</vt:lpstr>
      <vt:lpstr>Сравнительный анализ</vt:lpstr>
      <vt:lpstr>Общая характеристика исследуемого предприятия</vt:lpstr>
      <vt:lpstr>Разработка дизайна</vt:lpstr>
      <vt:lpstr>Разработка дизайна</vt:lpstr>
      <vt:lpstr>Разработка дизайна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ploybackshop ploybackshop</dc:creator>
  <cp:lastModifiedBy>ploybackshop ploybackshop</cp:lastModifiedBy>
  <cp:revision>12</cp:revision>
  <dcterms:created xsi:type="dcterms:W3CDTF">2025-11-23T12:13:34Z</dcterms:created>
  <dcterms:modified xsi:type="dcterms:W3CDTF">2025-12-01T09:26:18Z</dcterms:modified>
</cp:coreProperties>
</file>